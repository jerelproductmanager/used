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11880"/>
            <a:ext cx="9144000" cy="73152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100" kern="0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Sell Used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to Solve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Customer User Stories · Seller Journey · 2026 Roadmap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3685032"/>
            <a:ext cx="1124712" cy="1115568"/>
          </a:xfrm>
          <a:prstGeom prst="rect">
            <a:avLst/>
          </a:prstGeom>
          <a:solidFill>
            <a:srgbClr val="162452"/>
          </a:solidFill>
          <a:ln w="12700">
            <a:solidFill>
              <a:srgbClr val="1624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73075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096512"/>
            <a:ext cx="1124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43000" y="3685032"/>
            <a:ext cx="1124712" cy="11155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73075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4096512"/>
            <a:ext cx="1124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0" y="3685032"/>
            <a:ext cx="1124712" cy="1115568"/>
          </a:xfrm>
          <a:prstGeom prst="rect">
            <a:avLst/>
          </a:prstGeom>
          <a:solidFill>
            <a:srgbClr val="162452"/>
          </a:solidFill>
          <a:ln w="12700">
            <a:solidFill>
              <a:srgbClr val="1624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373075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86000" y="4096512"/>
            <a:ext cx="1124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29000" y="3685032"/>
            <a:ext cx="1124712" cy="11155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373075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29000" y="4096512"/>
            <a:ext cx="1124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3685032"/>
            <a:ext cx="1124712" cy="1115568"/>
          </a:xfrm>
          <a:prstGeom prst="rect">
            <a:avLst/>
          </a:prstGeom>
          <a:solidFill>
            <a:srgbClr val="162452"/>
          </a:solidFill>
          <a:ln w="12700">
            <a:solidFill>
              <a:srgbClr val="1624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373075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4096512"/>
            <a:ext cx="1124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15000" y="3685032"/>
            <a:ext cx="1124712" cy="11155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373075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0" y="4096512"/>
            <a:ext cx="1124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0" y="3685032"/>
            <a:ext cx="1124712" cy="1115568"/>
          </a:xfrm>
          <a:prstGeom prst="rect">
            <a:avLst/>
          </a:prstGeom>
          <a:solidFill>
            <a:srgbClr val="162452"/>
          </a:solidFill>
          <a:ln w="12700">
            <a:solidFill>
              <a:srgbClr val="1624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373075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4096512"/>
            <a:ext cx="1124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001000" y="3685032"/>
            <a:ext cx="1124712" cy="11155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1000" y="373075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01000" y="4096512"/>
            <a:ext cx="1124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Used — End-to-End Seller Journey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stages · 8 problem areas · 16 user stories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97280" cy="594360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Used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987552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where the seller is uninformed, uncertain, or surprised is a drop-off, dispute, or lost repeat transaction.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444752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444752"/>
            <a:ext cx="1965960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996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1499616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99339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search · Wrong item selection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1444752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0" y="1444752"/>
            <a:ext cx="1965960" cy="457200"/>
          </a:xfrm>
          <a:prstGeom prst="rect">
            <a:avLst/>
          </a:prstGeom>
          <a:solidFill>
            <a:srgbClr val="1D6B48"/>
          </a:solidFill>
          <a:ln w="12700">
            <a:solidFill>
              <a:srgbClr val="1D6B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4996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926080" y="1499616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199339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scale unintuitive · Mis-grading leads to disputes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444752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444752"/>
            <a:ext cx="1965960" cy="45720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4996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20640" y="1499616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199339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clarity on what's expected or valued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49440" y="1444752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0" y="1444752"/>
            <a:ext cx="1965960" cy="4572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14996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15200" y="1499616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40880" y="199339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feedback · Unknown quote validity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06324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063240"/>
            <a:ext cx="1965960" cy="4572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1181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1520" y="3118104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611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friction · No confirmation receipt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60320" y="306324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0" y="3063240"/>
            <a:ext cx="196596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0" y="31181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2926080" y="3118104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51760" y="3611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prepaid label · Unclear packaging guidelines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06324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063240"/>
            <a:ext cx="196596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1181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120640" y="3118104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3611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after ship · No inspection visibility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949440" y="306324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949440" y="3063240"/>
            <a:ext cx="1965960" cy="4572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0" y="31181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7315200" y="3118104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040880" y="3611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locked too early · Uplift not surfaced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4892040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is detailed on the following slides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Item Identification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can't always name their product — search has to meet them where they are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97280" cy="594360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Used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005840"/>
            <a:ext cx="3931920" cy="3749040"/>
          </a:xfrm>
          <a:prstGeom prst="rect">
            <a:avLst/>
          </a:prstGeom>
          <a:solidFill>
            <a:srgbClr val="FFF8EC"/>
          </a:solidFill>
          <a:ln w="19050">
            <a:solidFill>
              <a:srgbClr val="C899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005840"/>
            <a:ext cx="45720" cy="3749040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6984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to Solve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280160"/>
            <a:ext cx="373075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don't know the exact model name or SKU — text search alone creates drop-off when results are ambiguous or return no match.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confirmation of the selected item, sellers can accidentally quote the wrong product — creating friction and trust issues at inspection.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80560" y="1005840"/>
            <a:ext cx="4315968" cy="3749040"/>
          </a:xfrm>
          <a:prstGeom prst="rect">
            <a:avLst/>
          </a:prstGeom>
          <a:solidFill>
            <a:srgbClr val="EDF2FF"/>
          </a:solidFill>
          <a:ln w="19050">
            <a:solidFill>
              <a:srgbClr val="6B8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005840"/>
            <a:ext cx="45720" cy="3749040"/>
          </a:xfrm>
          <a:prstGeom prst="rect">
            <a:avLst/>
          </a:prstGeom>
          <a:solidFill>
            <a:srgbClr val="6B8DD6"/>
          </a:solidFill>
          <a:ln w="12700">
            <a:solidFill>
              <a:srgbClr val="6B8D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069848"/>
            <a:ext cx="4178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5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08576" y="1280160"/>
            <a:ext cx="411480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seller, I want to search by name, model #, or UPC so I can find my product without browsing categories.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seller, I want to see a confirmation of the item I selected (brand, model, specs) so I can verify before continuing.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seller, I want to scan a barcode or enter a serial number so I can identify my item accurately without typing.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4892040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of 8  ·  B&amp;H Sell Used  · 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Condition Self-Assessment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numeric scale doesn't match how people think about their gear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97280" cy="594360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Used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005840"/>
            <a:ext cx="3931920" cy="3749040"/>
          </a:xfrm>
          <a:prstGeom prst="rect">
            <a:avLst/>
          </a:prstGeom>
          <a:solidFill>
            <a:srgbClr val="FFF8EC"/>
          </a:solidFill>
          <a:ln w="19050">
            <a:solidFill>
              <a:srgbClr val="C899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005840"/>
            <a:ext cx="45720" cy="3749040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6984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to Solve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280160"/>
            <a:ext cx="373075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numeric scale (10–7, OB, Demo) is not intuitive — people don't grade their own gear that way and routinely mis-score.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real examples or reference imagery, sellers can't map cosmetic state to a rating, leading to expectation mismatches at inspection.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 adjustment at inspection — when the seller expected one value and receives another — is a trust-breaking moment that can kill the transaction.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80560" y="1005840"/>
            <a:ext cx="4315968" cy="3749040"/>
          </a:xfrm>
          <a:prstGeom prst="rect">
            <a:avLst/>
          </a:prstGeom>
          <a:solidFill>
            <a:srgbClr val="EDF2FF"/>
          </a:solidFill>
          <a:ln w="19050">
            <a:solidFill>
              <a:srgbClr val="6B8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005840"/>
            <a:ext cx="45720" cy="3749040"/>
          </a:xfrm>
          <a:prstGeom prst="rect">
            <a:avLst/>
          </a:prstGeom>
          <a:solidFill>
            <a:srgbClr val="6B8DD6"/>
          </a:solidFill>
          <a:ln w="12700">
            <a:solidFill>
              <a:srgbClr val="6B8D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069848"/>
            <a:ext cx="4178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5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08576" y="1280160"/>
            <a:ext cx="411480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seller, I want plain-language condition descriptions with examples so I can accurately self-assess without guessing.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seller, I want to select from a clearly labeled scale so I understand how my choice affects my offer before committing.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seller, I want the estimated quote to update in real time as I change condition so I can make an informed selection.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4892040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of 8  ·  B&amp;H Sell Used  · 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Accessories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don't know what's expected — and can't see how it affects their value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97280" cy="594360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Used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005840"/>
            <a:ext cx="3931920" cy="3749040"/>
          </a:xfrm>
          <a:prstGeom prst="rect">
            <a:avLst/>
          </a:prstGeom>
          <a:solidFill>
            <a:srgbClr val="FFF8EC"/>
          </a:solidFill>
          <a:ln w="19050">
            <a:solidFill>
              <a:srgbClr val="C899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005840"/>
            <a:ext cx="45720" cy="3749040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6984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to Solve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280160"/>
            <a:ext cx="373075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don't know which accessories are expected or valued — they either leave money on the table or feel penalized.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clear signal on how accessories affect quote value, so sellers can't make an informed inclusion decision.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80560" y="1005840"/>
            <a:ext cx="4315968" cy="3749040"/>
          </a:xfrm>
          <a:prstGeom prst="rect">
            <a:avLst/>
          </a:prstGeom>
          <a:solidFill>
            <a:srgbClr val="EDF2FF"/>
          </a:solidFill>
          <a:ln w="19050">
            <a:solidFill>
              <a:srgbClr val="6B8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005840"/>
            <a:ext cx="45720" cy="3749040"/>
          </a:xfrm>
          <a:prstGeom prst="rect">
            <a:avLst/>
          </a:prstGeom>
          <a:solidFill>
            <a:srgbClr val="6B8DD6"/>
          </a:solidFill>
          <a:ln w="12700">
            <a:solidFill>
              <a:srgbClr val="6B8D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069848"/>
            <a:ext cx="4178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5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08576" y="1280160"/>
            <a:ext cx="411480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seller, I want to indicate which accessories I'm including (battery, charger, box, manuals) so I get credit for completeness.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seller, I want to see how including or excluding accessories affects my quote so I can decide whether it's worth including them.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4892040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of 8  ·  B&amp;H Sell Used  · 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·  Quote Transparency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commit to terms they don't fully understand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97280" cy="594360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Used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005840"/>
            <a:ext cx="3931920" cy="3749040"/>
          </a:xfrm>
          <a:prstGeom prst="rect">
            <a:avLst/>
          </a:prstGeom>
          <a:solidFill>
            <a:srgbClr val="FFF8EC"/>
          </a:solidFill>
          <a:ln w="19050">
            <a:solidFill>
              <a:srgbClr val="C899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005840"/>
            <a:ext cx="45720" cy="3749040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6984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to Solve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280160"/>
            <a:ext cx="373075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quote doesn't update dynamically as sellers make selections, there's no feedback loop — they may submit something they'd have changed.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don't know how long a quote is valid, creating anxiety about whether to ship promptly or risk losing the offer.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80560" y="1005840"/>
            <a:ext cx="4315968" cy="3749040"/>
          </a:xfrm>
          <a:prstGeom prst="rect">
            <a:avLst/>
          </a:prstGeom>
          <a:solidFill>
            <a:srgbClr val="EDF2FF"/>
          </a:solidFill>
          <a:ln w="19050">
            <a:solidFill>
              <a:srgbClr val="6B8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005840"/>
            <a:ext cx="45720" cy="3749040"/>
          </a:xfrm>
          <a:prstGeom prst="rect">
            <a:avLst/>
          </a:prstGeom>
          <a:solidFill>
            <a:srgbClr val="6B8DD6"/>
          </a:solidFill>
          <a:ln w="12700">
            <a:solidFill>
              <a:srgbClr val="6B8D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069848"/>
            <a:ext cx="4178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5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08576" y="1280160"/>
            <a:ext cx="411480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seller, I want to add multiple items to a single quote so I can sell several pieces of gear in one transaction.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seller, I want to review a summary of all items, conditions, and accessories before submitting so I can catch mistakes.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seller, I want to understand how long my quote is valid so I know when I need to ship by.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4892040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of 8  ·  B&amp;H Sell Used  · 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·  Submission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form step is where committed sellers abandon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97280" cy="594360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Used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005840"/>
            <a:ext cx="3931920" cy="3749040"/>
          </a:xfrm>
          <a:prstGeom prst="rect">
            <a:avLst/>
          </a:prstGeom>
          <a:solidFill>
            <a:srgbClr val="FFF8EC"/>
          </a:solidFill>
          <a:ln w="19050">
            <a:solidFill>
              <a:srgbClr val="C899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005840"/>
            <a:ext cx="45720" cy="3749040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6984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to Solve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280160"/>
            <a:ext cx="373075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required fields at submission is a known drop-off point — sellers who've invested time building a quote abandon if the form feels like starting over.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immediate confirmation leaves sellers uncertain whether their submission was received.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80560" y="1005840"/>
            <a:ext cx="4315968" cy="3749040"/>
          </a:xfrm>
          <a:prstGeom prst="rect">
            <a:avLst/>
          </a:prstGeom>
          <a:solidFill>
            <a:srgbClr val="EDF2FF"/>
          </a:solidFill>
          <a:ln w="19050">
            <a:solidFill>
              <a:srgbClr val="6B8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005840"/>
            <a:ext cx="45720" cy="3749040"/>
          </a:xfrm>
          <a:prstGeom prst="rect">
            <a:avLst/>
          </a:prstGeom>
          <a:solidFill>
            <a:srgbClr val="6B8DD6"/>
          </a:solidFill>
          <a:ln w="12700">
            <a:solidFill>
              <a:srgbClr val="6B8D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069848"/>
            <a:ext cx="4178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5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08576" y="1280160"/>
            <a:ext cx="411480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seller, I want to submit my quote with minimal form fields so I can complete the process quickly without unnecessary friction.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seller, I want to receive a confirmation email immediately after submitting so I have a record of what I agreed to send in.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4892040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of 8  ·  B&amp;H Sell Used  · 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·  Shipping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friction at the moment of commitment costs conversions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97280" cy="594360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Used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005840"/>
            <a:ext cx="3931920" cy="3749040"/>
          </a:xfrm>
          <a:prstGeom prst="rect">
            <a:avLst/>
          </a:prstGeom>
          <a:solidFill>
            <a:srgbClr val="FFF8EC"/>
          </a:solidFill>
          <a:ln w="19050">
            <a:solidFill>
              <a:srgbClr val="C899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005840"/>
            <a:ext cx="45720" cy="3749040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6984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to Solve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280160"/>
            <a:ext cx="373075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Requiring sellers to arrange and pay for their own shipping is a conversion killer — it adds cost, effort, and uncertainty at the moment of commitment.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clear packaging guidance, items arrive damaged — triggering quote adjustments and eroding seller trust.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unclear or missed shipping deadline means B&amp;H holds an expired quote and the seller loses value without knowing why.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80560" y="1005840"/>
            <a:ext cx="4315968" cy="3749040"/>
          </a:xfrm>
          <a:prstGeom prst="rect">
            <a:avLst/>
          </a:prstGeom>
          <a:solidFill>
            <a:srgbClr val="EDF2FF"/>
          </a:solidFill>
          <a:ln w="19050">
            <a:solidFill>
              <a:srgbClr val="6B8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005840"/>
            <a:ext cx="45720" cy="3749040"/>
          </a:xfrm>
          <a:prstGeom prst="rect">
            <a:avLst/>
          </a:prstGeom>
          <a:solidFill>
            <a:srgbClr val="6B8DD6"/>
          </a:solidFill>
          <a:ln w="12700">
            <a:solidFill>
              <a:srgbClr val="6B8D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069848"/>
            <a:ext cx="4178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5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08576" y="1280160"/>
            <a:ext cx="411480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seller, I want to receive a prepaid shipping label so I don't have to pay out of pocket or figure out logistics.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seller, I want clear instructions on how to package my item so it arrives without damage and my quote isn't affected.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seller, I want to know the shipping deadline so I don't lose my quoted value by waiting too long.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4892040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of 8  ·  B&amp;H Sell Used  · 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·  Progress Awareness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seller ships their gear, silence is the experience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97280" cy="594360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Used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005840"/>
            <a:ext cx="3931920" cy="3749040"/>
          </a:xfrm>
          <a:prstGeom prst="rect">
            <a:avLst/>
          </a:prstGeom>
          <a:solidFill>
            <a:srgbClr val="FFF8EC"/>
          </a:solidFill>
          <a:ln w="19050">
            <a:solidFill>
              <a:srgbClr val="C899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005840"/>
            <a:ext cx="45720" cy="3749040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6984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to Solve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280160"/>
            <a:ext cx="373075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after shipping is the highest-anxiety moment — sellers have handed over their gear with no visibility into what happens next.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 adjustment with no explanation feels arbitrary and punitive — sellers need to understand why their quote changed.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Forcing sellers to contact support for status is a cost center and a friction point that damages NPS.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80560" y="1005840"/>
            <a:ext cx="4315968" cy="3749040"/>
          </a:xfrm>
          <a:prstGeom prst="rect">
            <a:avLst/>
          </a:prstGeom>
          <a:solidFill>
            <a:srgbClr val="EDF2FF"/>
          </a:solidFill>
          <a:ln w="19050">
            <a:solidFill>
              <a:srgbClr val="6B8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005840"/>
            <a:ext cx="45720" cy="3749040"/>
          </a:xfrm>
          <a:prstGeom prst="rect">
            <a:avLst/>
          </a:prstGeom>
          <a:solidFill>
            <a:srgbClr val="6B8DD6"/>
          </a:solidFill>
          <a:ln w="12700">
            <a:solidFill>
              <a:srgbClr val="6B8D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069848"/>
            <a:ext cx="4178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5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08576" y="1280160"/>
            <a:ext cx="411480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seller, I want to receive notifications at each stage (shipped, received, inspected, paid) so I'm never left wondering.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seller, I want to check status online so I can get answers without contacting support.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seller, I want to be notified if the evaluated condition differs from my self-assessment so I can understand any adjustment before payment is processed.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4892040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 of 8  ·  B&amp;H Sell Used  · 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·  Payment Method &amp; Getting Paid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moment of value delivery is undermined by friction and opacity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97280" cy="594360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Used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005840"/>
            <a:ext cx="3931920" cy="3749040"/>
          </a:xfrm>
          <a:prstGeom prst="rect">
            <a:avLst/>
          </a:prstGeom>
          <a:solidFill>
            <a:srgbClr val="FFF8EC"/>
          </a:solidFill>
          <a:ln w="19050">
            <a:solidFill>
              <a:srgbClr val="C899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005840"/>
            <a:ext cx="45720" cy="3749040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6984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to Solve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280160"/>
            <a:ext cx="373075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Deferring payment method selection to post-submission means sellers can't plan — they need that context to decide if the transaction is worth it.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store credit uplift (vs. cash) isn't surfaced clearly, B&amp;H leaves one of its strongest conversion levers unused.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or opaque payment issuance after acceptance breaks the final trust moment — a good experience can end negatively.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80560" y="1005840"/>
            <a:ext cx="4315968" cy="3749040"/>
          </a:xfrm>
          <a:prstGeom prst="rect">
            <a:avLst/>
          </a:prstGeom>
          <a:solidFill>
            <a:srgbClr val="EDF2FF"/>
          </a:solidFill>
          <a:ln w="19050">
            <a:solidFill>
              <a:srgbClr val="6B8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005840"/>
            <a:ext cx="45720" cy="3749040"/>
          </a:xfrm>
          <a:prstGeom prst="rect">
            <a:avLst/>
          </a:prstGeom>
          <a:solidFill>
            <a:srgbClr val="6B8DD6"/>
          </a:solidFill>
          <a:ln w="12700">
            <a:solidFill>
              <a:srgbClr val="6B8D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069848"/>
            <a:ext cx="4178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5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08576" y="1280160"/>
            <a:ext cx="411480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seller, I want to choose between store credit, check, and direct deposit before I submit so I can plan accordingly.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seller, I want to understand the value difference between payment methods so I can make an informed choice.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seller, I want to receive payment promptly after acceptance and receive a confirmation when it's issued.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seller, I want store credit applied to my account automatically so I can use it without an extra step.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4892040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8 of 8  ·  B&amp;H Sell Used  · 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73152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Meta-Problem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flow treats the seller as a logistics problem to be processed,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customer making a financial decision.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where the seller is uninformed, uncertain, or surprised is a moment where they abandon, dispute, or don't return.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54864" cy="256032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303580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value early — quote transparency builds commitment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54864" cy="256032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34472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friction at every handoff — especially submission and shipping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54864" cy="256032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8587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proactively — silence creates anxiety and support tickets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54864" cy="256032"/>
          </a:xfrm>
          <a:prstGeom prst="rect">
            <a:avLst/>
          </a:prstGeom>
          <a:solidFill>
            <a:srgbClr val="C8993A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427024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store credit the obvious choice — it's B&amp;H's best lever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75488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Sell Used  ·  Problems to Solve  ·  2026 Roadmap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B&amp;H Sell Used — Problems to Solve</dc:title>
  <dc:subject>PptxGenJS Presentation</dc:subject>
  <dc:creator>PptxGenJS</dc:creator>
  <cp:lastModifiedBy>PptxGenJS</cp:lastModifiedBy>
  <cp:revision>1</cp:revision>
  <dcterms:created xsi:type="dcterms:W3CDTF">2026-05-12T19:14:52Z</dcterms:created>
  <dcterms:modified xsi:type="dcterms:W3CDTF">2026-05-12T19:14:52Z</dcterms:modified>
</cp:coreProperties>
</file>